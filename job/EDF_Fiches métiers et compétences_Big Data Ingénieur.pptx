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7"/>
  </p:notesMasterIdLst>
  <p:sldIdLst>
    <p:sldId id="514" r:id="rId5"/>
    <p:sldId id="515" r:id="rId6"/>
  </p:sldIdLst>
  <p:sldSz cx="6858000" cy="9144000" type="screen4x3"/>
  <p:notesSz cx="6858000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achs, Justine" initials="FJ" lastIdx="14" clrIdx="0">
    <p:extLst>
      <p:ext uri="{19B8F6BF-5375-455C-9EA6-DF929625EA0E}">
        <p15:presenceInfo xmlns:p15="http://schemas.microsoft.com/office/powerpoint/2012/main" userId="S::justine.flachs@bearingpoint.com::2b768fe3-877b-4328-9d57-8645c98c61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48C"/>
    <a:srgbClr val="D00548"/>
    <a:srgbClr val="D5376B"/>
    <a:srgbClr val="1A7C40"/>
    <a:srgbClr val="D9D9D9"/>
    <a:srgbClr val="4F81BD"/>
    <a:srgbClr val="FE5815"/>
    <a:srgbClr val="09357A"/>
    <a:srgbClr val="FFA02F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76" autoAdjust="0"/>
    <p:restoredTop sz="93286" autoAdjust="0"/>
  </p:normalViewPr>
  <p:slideViewPr>
    <p:cSldViewPr snapToGrid="0">
      <p:cViewPr varScale="1">
        <p:scale>
          <a:sx n="62" d="100"/>
          <a:sy n="62" d="100"/>
        </p:scale>
        <p:origin x="2478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7BB8C-786A-47AF-A766-1210AE618A30}" type="datetimeFigureOut">
              <a:rPr lang="fr-FR" smtClean="0"/>
              <a:t>23/01/2020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73288" y="1241425"/>
            <a:ext cx="25114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1" y="4777195"/>
            <a:ext cx="5486400" cy="39086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71800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4" y="9428584"/>
            <a:ext cx="2971800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F4258-4A0E-47A3-9CF4-14C763BC92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69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1.jpg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3.jpg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4.jpg" TargetMode="Externa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6.jpg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8.jpg" TargetMode="Externa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B026C24A-4EEC-468F-9E6D-55211A1BFA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8" r="7112"/>
          <a:stretch/>
        </p:blipFill>
        <p:spPr>
          <a:xfrm>
            <a:off x="0" y="0"/>
            <a:ext cx="6858000" cy="826770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xmlns="" id="{CF153274-5FB3-4F58-B165-E563905F7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4850" y="445454"/>
            <a:ext cx="1899769" cy="1912186"/>
          </a:xfrm>
        </p:spPr>
        <p:txBody>
          <a:bodyPr anchor="ctr">
            <a:normAutofit/>
          </a:bodyPr>
          <a:lstStyle>
            <a:lvl1pPr algn="l">
              <a:defRPr sz="1283"/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6" name="Rectangle : avec coin rogné 5">
            <a:extLst>
              <a:ext uri="{FF2B5EF4-FFF2-40B4-BE49-F238E27FC236}">
                <a16:creationId xmlns:a16="http://schemas.microsoft.com/office/drawing/2014/main" xmlns="" id="{C67BFA56-99B0-4048-9FEC-A4BF138406BE}"/>
              </a:ext>
            </a:extLst>
          </p:cNvPr>
          <p:cNvSpPr/>
          <p:nvPr userDrawn="1"/>
        </p:nvSpPr>
        <p:spPr>
          <a:xfrm rot="5400000">
            <a:off x="4420963" y="370141"/>
            <a:ext cx="1924500" cy="2062812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0A99930-352B-4B4D-97ED-B727E5758C78}"/>
              </a:ext>
            </a:extLst>
          </p:cNvPr>
          <p:cNvSpPr/>
          <p:nvPr userDrawn="1"/>
        </p:nvSpPr>
        <p:spPr>
          <a:xfrm>
            <a:off x="0" y="8286970"/>
            <a:ext cx="6858000" cy="8763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21B20B8-1B44-46B3-9AA6-FB685AE39F82}"/>
              </a:ext>
            </a:extLst>
          </p:cNvPr>
          <p:cNvSpPr/>
          <p:nvPr userDrawn="1"/>
        </p:nvSpPr>
        <p:spPr>
          <a:xfrm>
            <a:off x="290166" y="8662005"/>
            <a:ext cx="2453034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fr-FR" sz="1100" b="1" dirty="0">
                <a:solidFill>
                  <a:schemeClr val="bg1"/>
                </a:solidFill>
              </a:rPr>
              <a:t>Septembre 2019 – Version projet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xmlns="" id="{80DB5713-85A0-4A35-A0A5-5753E19416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734" y="8491191"/>
            <a:ext cx="950978" cy="4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8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9927" y="644551"/>
            <a:ext cx="5378146" cy="911361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9854" y="1966511"/>
            <a:ext cx="5464051" cy="603461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xmlns="" id="{7DD6EFC2-7D18-446D-B929-4E81FD46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42046" y="8423763"/>
            <a:ext cx="1286955" cy="286104"/>
          </a:xfrm>
        </p:spPr>
        <p:txBody>
          <a:bodyPr/>
          <a:lstStyle/>
          <a:p>
            <a:fld id="{6898D7AA-5519-44E2-BEF4-18C01FC88AD3}" type="datetime1">
              <a:rPr lang="fr-FR" smtClean="0"/>
              <a:t>23/01/2020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xmlns="" id="{4EF039F7-C95E-4F47-8944-D25B5819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777" y="8423762"/>
            <a:ext cx="2153560" cy="286104"/>
          </a:xfrm>
        </p:spPr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xmlns="" id="{4E95296A-195C-421A-B14B-A0796C40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6055" y="8423761"/>
            <a:ext cx="583497" cy="286104"/>
          </a:xfrm>
        </p:spPr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35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5AA1F"/>
              </a:buClr>
              <a:defRPr/>
            </a:lvl1pPr>
            <a:lvl2pPr>
              <a:buClr>
                <a:srgbClr val="F5AA1F"/>
              </a:buClr>
              <a:defRPr/>
            </a:lvl2pPr>
            <a:lvl3pPr>
              <a:buClr>
                <a:srgbClr val="F5AA1F"/>
              </a:buClr>
              <a:defRPr/>
            </a:lvl3pPr>
            <a:lvl4pPr>
              <a:buClr>
                <a:srgbClr val="F5AA1F"/>
              </a:buClr>
              <a:defRPr/>
            </a:lvl4pPr>
            <a:lvl5pPr>
              <a:buClr>
                <a:srgbClr val="F5AA1F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9449-AAA1-43FD-B7BA-0EDB0A081104}" type="datetime1">
              <a:rPr lang="fr-FR" smtClean="0"/>
              <a:t>23/01/2020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192975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00548"/>
              </a:buClr>
              <a:defRPr/>
            </a:lvl1pPr>
            <a:lvl2pPr>
              <a:buClr>
                <a:srgbClr val="D00548"/>
              </a:buClr>
              <a:defRPr/>
            </a:lvl2pPr>
            <a:lvl3pPr>
              <a:buClr>
                <a:srgbClr val="D00548"/>
              </a:buClr>
              <a:defRPr/>
            </a:lvl3pPr>
            <a:lvl4pPr>
              <a:buClr>
                <a:srgbClr val="D00548"/>
              </a:buClr>
              <a:defRPr/>
            </a:lvl4pPr>
            <a:lvl5pPr>
              <a:buClr>
                <a:srgbClr val="D00548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D159-6357-4DA5-AB33-4493A43DA303}" type="datetime1">
              <a:rPr lang="fr-FR" smtClean="0"/>
              <a:t>23/01/2020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159552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8C0A66"/>
              </a:buClr>
              <a:defRPr/>
            </a:lvl1pPr>
            <a:lvl2pPr>
              <a:buClr>
                <a:srgbClr val="8C0A66"/>
              </a:buClr>
              <a:defRPr/>
            </a:lvl2pPr>
            <a:lvl3pPr>
              <a:buClr>
                <a:srgbClr val="8C0A66"/>
              </a:buClr>
              <a:defRPr/>
            </a:lvl3pPr>
            <a:lvl4pPr>
              <a:buClr>
                <a:srgbClr val="8C0A66"/>
              </a:buClr>
              <a:defRPr/>
            </a:lvl4pPr>
            <a:lvl5pPr>
              <a:buClr>
                <a:srgbClr val="8C0A66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DB19-527E-45E2-A7FD-0CDE389BBD48}" type="datetime1">
              <a:rPr lang="fr-FR" smtClean="0"/>
              <a:t>23/01/2020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29332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1568AF"/>
              </a:buClr>
              <a:defRPr/>
            </a:lvl1pPr>
            <a:lvl2pPr>
              <a:buClr>
                <a:srgbClr val="1568AF"/>
              </a:buClr>
              <a:defRPr/>
            </a:lvl2pPr>
            <a:lvl3pPr>
              <a:buClr>
                <a:srgbClr val="1568AF"/>
              </a:buClr>
              <a:defRPr/>
            </a:lvl3pPr>
            <a:lvl4pPr>
              <a:buClr>
                <a:srgbClr val="1568AF"/>
              </a:buClr>
              <a:defRPr/>
            </a:lvl4pPr>
            <a:lvl5pPr>
              <a:buClr>
                <a:srgbClr val="1568AF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F1880-3800-4686-94D3-157D2761C306}" type="datetime1">
              <a:rPr lang="fr-FR" smtClean="0"/>
              <a:t>23/01/2020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422554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1A7A3F"/>
              </a:buClr>
              <a:defRPr/>
            </a:lvl1pPr>
            <a:lvl2pPr>
              <a:buClr>
                <a:srgbClr val="1A7A3F"/>
              </a:buClr>
              <a:defRPr/>
            </a:lvl2pPr>
            <a:lvl3pPr>
              <a:buClr>
                <a:srgbClr val="1A7A3F"/>
              </a:buClr>
              <a:defRPr/>
            </a:lvl3pPr>
            <a:lvl4pPr>
              <a:buClr>
                <a:srgbClr val="1A7A3F"/>
              </a:buClr>
              <a:defRPr/>
            </a:lvl4pPr>
            <a:lvl5pPr>
              <a:buClr>
                <a:srgbClr val="1A7A3F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9EC8-AB60-47B9-A182-2DF8AEF233B3}" type="datetime1">
              <a:rPr lang="fr-FR" smtClean="0"/>
              <a:t>23/01/2020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135404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xmlns="" id="{3B059097-685E-423A-B8A9-02079E6D25A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048" y="0"/>
            <a:ext cx="6851904" cy="9144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02499" y="642290"/>
            <a:ext cx="5378146" cy="911361"/>
          </a:xfrm>
          <a:prstGeom prst="rect">
            <a:avLst/>
          </a:prstGeom>
        </p:spPr>
        <p:txBody>
          <a:bodyPr vert="horz" lIns="0" tIns="0" rIns="0" bIns="4680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9854" y="1966511"/>
            <a:ext cx="5464051" cy="6034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142046" y="8423763"/>
            <a:ext cx="1286955" cy="286104"/>
          </a:xfrm>
          <a:prstGeom prst="rect">
            <a:avLst/>
          </a:prstGeom>
        </p:spPr>
        <p:txBody>
          <a:bodyPr vert="horz" lIns="0" tIns="0" rIns="0" bIns="36000" rtlCol="0" anchor="ctr"/>
          <a:lstStyle>
            <a:lvl1pPr algn="l">
              <a:defRPr sz="6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F5B71FB-DBEC-4294-81DA-F8FABBBD4D66}" type="datetime1">
              <a:rPr lang="fr-FR" smtClean="0"/>
              <a:t>23/01/2020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777" y="8423762"/>
            <a:ext cx="2153560" cy="286104"/>
          </a:xfrm>
          <a:prstGeom prst="rect">
            <a:avLst/>
          </a:prstGeom>
        </p:spPr>
        <p:txBody>
          <a:bodyPr vert="horz" lIns="0" tIns="0" rIns="0" bIns="36000" rtlCol="0" anchor="ctr"/>
          <a:lstStyle>
            <a:lvl1pPr algn="ctr">
              <a:defRPr sz="6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666055" y="8423761"/>
            <a:ext cx="583497" cy="286104"/>
          </a:xfrm>
          <a:prstGeom prst="rect">
            <a:avLst/>
          </a:prstGeom>
        </p:spPr>
        <p:txBody>
          <a:bodyPr vert="horz" lIns="0" tIns="0" rIns="0" bIns="36000" rtlCol="0" anchor="ctr"/>
          <a:lstStyle>
            <a:lvl1pPr algn="r">
              <a:defRPr sz="856" b="1">
                <a:solidFill>
                  <a:schemeClr val="tx1"/>
                </a:solidFill>
              </a:defRPr>
            </a:lvl1pPr>
          </a:lstStyle>
          <a:p>
            <a:fld id="{14F8FF79-2C8B-914A-A6C1-180A3E218489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364977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02028D98-F48D-44D9-9135-1145CF1210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14" y="8330659"/>
            <a:ext cx="991312" cy="42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hf hdr="0"/>
  <p:txStyles>
    <p:titleStyle>
      <a:lvl1pPr algn="l" defTabSz="391135" rtl="0" eaLnBrk="1" latinLnBrk="0" hangingPunct="1">
        <a:lnSpc>
          <a:spcPts val="2567"/>
        </a:lnSpc>
        <a:spcBef>
          <a:spcPct val="0"/>
        </a:spcBef>
        <a:buNone/>
        <a:defRPr sz="2395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2108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456324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–"/>
        <a:tabLst/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771404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1075620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–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379836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»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2151240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542375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2933510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324644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135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269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04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38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5673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08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37942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29077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579657" y="619389"/>
            <a:ext cx="5378146" cy="911361"/>
          </a:xfrm>
        </p:spPr>
        <p:txBody>
          <a:bodyPr/>
          <a:lstStyle/>
          <a:p>
            <a:r>
              <a:rPr lang="fr-FR" sz="2400" dirty="0">
                <a:latin typeface="Calibri" panose="020F0502020204030204" pitchFamily="34" charset="0"/>
              </a:rPr>
              <a:t>Métier « </a:t>
            </a:r>
            <a:r>
              <a:rPr lang="fr-FR" sz="2400" dirty="0" smtClean="0">
                <a:latin typeface="Calibri" panose="020F0502020204030204" pitchFamily="34" charset="0"/>
              </a:rPr>
              <a:t>Donnée »</a:t>
            </a:r>
            <a:endParaRPr lang="fr-FR" sz="2400" dirty="0">
              <a:latin typeface="Calibri" panose="020F0502020204030204" pitchFamily="34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B0FA-8FDD-1C4E-B433-ECD20BDAD4A9}" type="datetime1">
              <a:rPr lang="en-US" smtClean="0"/>
              <a:pPr/>
              <a:t>1/23/2020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9" name="Espace réservé du contenu 10"/>
          <p:cNvSpPr txBox="1">
            <a:spLocks/>
          </p:cNvSpPr>
          <p:nvPr/>
        </p:nvSpPr>
        <p:spPr>
          <a:xfrm>
            <a:off x="854288" y="1952929"/>
            <a:ext cx="5154857" cy="461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ts val="1283"/>
              </a:lnSpc>
              <a:spcAft>
                <a:spcPts val="171"/>
              </a:spcAft>
              <a:buClr>
                <a:srgbClr val="D00548"/>
              </a:buClr>
            </a:pPr>
            <a:r>
              <a:rPr lang="fr-FR" sz="1540" cap="all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Emploi générique « </a:t>
            </a:r>
            <a:r>
              <a:rPr lang="fr-FR" sz="1540" cap="all" dirty="0" err="1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ingenieur</a:t>
            </a:r>
            <a:r>
              <a:rPr lang="fr-FR" sz="1540" cap="all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fr-FR" sz="1540" cap="all" dirty="0" err="1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big</a:t>
            </a:r>
            <a:r>
              <a:rPr lang="fr-FR" sz="1540" cap="all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data</a:t>
            </a:r>
            <a:r>
              <a:rPr lang="fr-FR" sz="1540" cap="all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 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289" y="2574932"/>
            <a:ext cx="5154857" cy="160103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just"/>
            <a:r>
              <a:rPr lang="fr-FR" sz="1200" b="1" dirty="0">
                <a:solidFill>
                  <a:srgbClr val="D005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Missions </a:t>
            </a:r>
            <a:r>
              <a:rPr lang="fr-FR" sz="1200" b="1" dirty="0" smtClean="0">
                <a:solidFill>
                  <a:srgbClr val="D005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principales</a:t>
            </a:r>
          </a:p>
          <a:p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L’ingénieur </a:t>
            </a:r>
            <a:r>
              <a:rPr lang="fr-F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Big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 Data est expert des infrastructures IT permettant le stockage, la manipulation et la restitution des « méga données ». </a:t>
            </a:r>
            <a:endParaRPr lang="fr-FR" sz="11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100" dirty="0" smtClean="0">
                <a:latin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travaille à l’insertion dans le SI de nouvelles technologies et assure l’adaptabilité des nouvelles </a:t>
            </a:r>
            <a:r>
              <a:rPr lang="fr-FR" sz="1100" dirty="0" smtClean="0">
                <a:latin typeface="Calibri" panose="020F0502020204030204" pitchFamily="34" charset="0"/>
                <a:cs typeface="Calibri" panose="020F0502020204030204" pitchFamily="34" charset="0"/>
              </a:rPr>
              <a:t>infrastructures, en vue de valoriser les données stockées. </a:t>
            </a:r>
          </a:p>
          <a:p>
            <a:r>
              <a:rPr lang="fr-FR" sz="1100" dirty="0" smtClean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lien étroit avec les métiers du SI, il peut être amené à travailler à DSIT, au sein des usines </a:t>
            </a:r>
            <a:r>
              <a:rPr lang="fr-F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analytics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 de l’entreprise ou des fonctions opérateur de données</a:t>
            </a:r>
            <a:r>
              <a:rPr lang="fr-FR" sz="11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fr-FR" sz="1100" dirty="0" smtClean="0">
                <a:latin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collabore aux </a:t>
            </a:r>
            <a:r>
              <a:rPr lang="fr-FR" sz="11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projets, et est en lien étroit avec les data-architecte</a:t>
            </a:r>
            <a:endParaRPr lang="fr-F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fr-FR" sz="1200" b="1" dirty="0">
              <a:solidFill>
                <a:srgbClr val="D0054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8321" y="4471294"/>
            <a:ext cx="5154857" cy="2716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fr-FR" sz="1283" b="1" dirty="0">
                <a:solidFill>
                  <a:srgbClr val="D00548"/>
                </a:solidFill>
                <a:latin typeface="Calibri" panose="020F0502020204030204" pitchFamily="34" charset="0"/>
              </a:rPr>
              <a:t>Activités principales</a:t>
            </a:r>
            <a:endParaRPr lang="fr-FR" sz="1283" dirty="0">
              <a:solidFill>
                <a:srgbClr val="D00548"/>
              </a:solidFill>
              <a:latin typeface="Calibri" panose="020F0502020204030204" pitchFamily="34" charset="0"/>
            </a:endParaRPr>
          </a:p>
          <a:p>
            <a:endParaRPr lang="fr-FR" sz="856" dirty="0">
              <a:latin typeface="Calibri" panose="020F0502020204030204" pitchFamily="34" charset="0"/>
            </a:endParaRPr>
          </a:p>
          <a:p>
            <a:r>
              <a:rPr lang="fr-FR" sz="856" dirty="0">
                <a:latin typeface="Calibri" panose="020F0502020204030204" pitchFamily="34" charset="0"/>
              </a:rPr>
              <a:t>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xmlns="" id="{87FAFDFB-0A60-440C-A39D-9E92E1237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390740"/>
              </p:ext>
            </p:extLst>
          </p:nvPr>
        </p:nvGraphicFramePr>
        <p:xfrm>
          <a:off x="854288" y="4710145"/>
          <a:ext cx="5154857" cy="293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4857">
                  <a:extLst>
                    <a:ext uri="{9D8B030D-6E8A-4147-A177-3AD203B41FA5}">
                      <a16:colId xmlns:a16="http://schemas.microsoft.com/office/drawing/2014/main" xmlns="" val="2986183004"/>
                    </a:ext>
                  </a:extLst>
                </a:gridCol>
              </a:tblGrid>
              <a:tr h="274433">
                <a:tc>
                  <a:txBody>
                    <a:bodyPr/>
                    <a:lstStyle/>
                    <a:p>
                      <a:pPr algn="just"/>
                      <a:r>
                        <a:rPr lang="fr-FR" sz="1100" b="1" kern="1200" dirty="0" smtClean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Réalisation d’études d’architecture :</a:t>
                      </a:r>
                      <a:endParaRPr lang="fr-FR" sz="1100" b="1" kern="1200" dirty="0">
                        <a:solidFill>
                          <a:srgbClr val="D00548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2209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Il</a:t>
                      </a:r>
                      <a:r>
                        <a:rPr lang="fr-FR" sz="1100" b="0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capte et retraduit les enjeux et besoins d’infrastructure</a:t>
                      </a:r>
                      <a:endParaRPr lang="fr-FR" sz="1100" b="0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Il réalise des études d’architecture d’infrastructure et logiciels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Il veille aux nouvelles solutions et à leurs conditions d’insertion dans le SI</a:t>
                      </a:r>
                    </a:p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endParaRPr lang="fr-FR" sz="1100" b="0" dirty="0" smtClean="0">
                        <a:solidFill>
                          <a:srgbClr val="D00548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fr-FR" sz="1100" b="1" dirty="0" smtClean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Gouvernance technique du </a:t>
                      </a:r>
                      <a:r>
                        <a:rPr lang="fr-FR" sz="1100" b="1" dirty="0" err="1" smtClean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Datalake</a:t>
                      </a:r>
                      <a:endParaRPr lang="fr-FR" sz="1100" b="1" dirty="0">
                        <a:solidFill>
                          <a:srgbClr val="D00548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43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Il garantit techniquement la gouvernance du </a:t>
                      </a:r>
                      <a:r>
                        <a:rPr lang="fr-FR" sz="1100" dirty="0" err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datalake</a:t>
                      </a:r>
                      <a:r>
                        <a:rPr lang="fr-FR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la capture, l’acheminement et l’ingestion de données,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Il garantit  la disponibilité et l’outillage pour les data scientistes, les data analystes et les data qualiticien.</a:t>
                      </a:r>
                    </a:p>
                    <a:p>
                      <a:endParaRPr lang="fr-FR" sz="1100" dirty="0" smtClean="0"/>
                    </a:p>
                    <a:p>
                      <a:r>
                        <a:rPr lang="fr-FR" sz="1100" b="1" dirty="0" smtClean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Spécifications d’infrastructures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Il spécifie les architectures techniques pour les développeurs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Il teste et réceptionne les infrastructures pour le compte de leurs utilisateurs</a:t>
                      </a:r>
                    </a:p>
                    <a:p>
                      <a:endParaRPr lang="fr-FR" sz="1100" dirty="0" smtClean="0"/>
                    </a:p>
                    <a:p>
                      <a:endParaRPr lang="fr-FR" sz="11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9" name="Groupe 18">
            <a:extLst>
              <a:ext uri="{FF2B5EF4-FFF2-40B4-BE49-F238E27FC236}">
                <a16:creationId xmlns:a16="http://schemas.microsoft.com/office/drawing/2014/main" xmlns="" id="{210DE26B-B676-459F-8624-7C95CDEEACE9}"/>
              </a:ext>
            </a:extLst>
          </p:cNvPr>
          <p:cNvGrpSpPr/>
          <p:nvPr/>
        </p:nvGrpSpPr>
        <p:grpSpPr>
          <a:xfrm>
            <a:off x="5219612" y="123104"/>
            <a:ext cx="1628214" cy="1622161"/>
            <a:chOff x="7049844" y="1946101"/>
            <a:chExt cx="1628214" cy="1622161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xmlns="" id="{848C2A54-DCE4-41AA-A5C9-7EAB1EFEF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6477">
              <a:off x="7049844" y="1946101"/>
              <a:ext cx="1628214" cy="1622161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xmlns="" id="{0BE8FC97-B7F6-4816-9C03-26F42090D284}"/>
                </a:ext>
              </a:extLst>
            </p:cNvPr>
            <p:cNvSpPr txBox="1"/>
            <p:nvPr/>
          </p:nvSpPr>
          <p:spPr>
            <a:xfrm rot="20945197">
              <a:off x="7187740" y="2108657"/>
              <a:ext cx="1308361" cy="1044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fr-FR" sz="1600" dirty="0">
                  <a:solidFill>
                    <a:srgbClr val="49648C"/>
                  </a:solidFill>
                  <a:latin typeface="Freestyle Script" panose="030804020302050B0404" pitchFamily="66" charset="0"/>
                </a:rPr>
                <a:t>Mon métier : mes missions, mes responsabilités, ma valeur ajoutée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274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B0FA-8FDD-1C4E-B433-ECD20BDAD4A9}" type="datetime1">
              <a:rPr lang="en-US" smtClean="0"/>
              <a:pPr/>
              <a:t>1/23/2020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F21E8BBE-3848-4256-8D30-EE1F9D10783A}"/>
              </a:ext>
            </a:extLst>
          </p:cNvPr>
          <p:cNvSpPr/>
          <p:nvPr/>
        </p:nvSpPr>
        <p:spPr>
          <a:xfrm>
            <a:off x="854289" y="2551269"/>
            <a:ext cx="5154857" cy="2716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fr-FR" sz="1283" b="1" dirty="0">
                <a:solidFill>
                  <a:srgbClr val="D00548"/>
                </a:solidFill>
                <a:latin typeface="Calibri" panose="020F0502020204030204" pitchFamily="34" charset="0"/>
              </a:rPr>
              <a:t>Compétences</a:t>
            </a:r>
            <a:endParaRPr lang="fr-FR" sz="856" dirty="0">
              <a:latin typeface="Calibri" panose="020F0502020204030204" pitchFamily="34" charset="0"/>
            </a:endParaRPr>
          </a:p>
        </p:txBody>
      </p:sp>
      <p:sp>
        <p:nvSpPr>
          <p:cNvPr id="72" name="Espace réservé du contenu 10">
            <a:extLst>
              <a:ext uri="{FF2B5EF4-FFF2-40B4-BE49-F238E27FC236}">
                <a16:creationId xmlns:a16="http://schemas.microsoft.com/office/drawing/2014/main" xmlns="" id="{A0790B83-6045-46ED-86BF-F1BEB2BFC065}"/>
              </a:ext>
            </a:extLst>
          </p:cNvPr>
          <p:cNvSpPr txBox="1">
            <a:spLocks/>
          </p:cNvSpPr>
          <p:nvPr/>
        </p:nvSpPr>
        <p:spPr>
          <a:xfrm>
            <a:off x="854288" y="1952929"/>
            <a:ext cx="5154857" cy="461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ts val="1283"/>
              </a:lnSpc>
              <a:spcAft>
                <a:spcPts val="171"/>
              </a:spcAft>
              <a:buClr>
                <a:srgbClr val="D00548"/>
              </a:buClr>
            </a:pPr>
            <a:r>
              <a:rPr lang="fr-FR" sz="1540" cap="all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Emploi générique « </a:t>
            </a:r>
            <a:r>
              <a:rPr lang="fr-FR" sz="1540" cap="all" dirty="0" err="1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ingenieur</a:t>
            </a:r>
            <a:r>
              <a:rPr lang="fr-FR" sz="1540" cap="all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fr-FR" sz="1540" cap="all" dirty="0" err="1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big</a:t>
            </a:r>
            <a:r>
              <a:rPr lang="fr-FR" sz="1540" cap="all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data</a:t>
            </a:r>
            <a:r>
              <a:rPr lang="fr-FR" sz="1540" cap="all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 »</a:t>
            </a:r>
          </a:p>
        </p:txBody>
      </p:sp>
      <p:graphicFrame>
        <p:nvGraphicFramePr>
          <p:cNvPr id="73" name="Tableau 72">
            <a:extLst>
              <a:ext uri="{FF2B5EF4-FFF2-40B4-BE49-F238E27FC236}">
                <a16:creationId xmlns:a16="http://schemas.microsoft.com/office/drawing/2014/main" xmlns="" id="{7105FAE7-CA4E-4B94-BF63-4C191F8CF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515437"/>
              </p:ext>
            </p:extLst>
          </p:nvPr>
        </p:nvGraphicFramePr>
        <p:xfrm>
          <a:off x="854288" y="5018543"/>
          <a:ext cx="5187359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xmlns="" val="1607353507"/>
                    </a:ext>
                  </a:extLst>
                </a:gridCol>
                <a:gridCol w="1227359">
                  <a:extLst>
                    <a:ext uri="{9D8B030D-6E8A-4147-A177-3AD203B41FA5}">
                      <a16:colId xmlns:a16="http://schemas.microsoft.com/office/drawing/2014/main" xmlns="" val="1201958127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cap="all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Compétences Transverses</a:t>
                      </a:r>
                      <a:endParaRPr lang="fr-FR" sz="1200" cap="all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05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24237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Sens du client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928383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Rigueur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15259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Travail collaboratif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19226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Créativité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088786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Capacité d’adaptation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870709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1696468"/>
                  </a:ext>
                </a:extLst>
              </a:tr>
            </a:tbl>
          </a:graphicData>
        </a:graphic>
      </p:graphicFrame>
      <p:graphicFrame>
        <p:nvGraphicFramePr>
          <p:cNvPr id="111" name="Tableau 110">
            <a:extLst>
              <a:ext uri="{FF2B5EF4-FFF2-40B4-BE49-F238E27FC236}">
                <a16:creationId xmlns:a16="http://schemas.microsoft.com/office/drawing/2014/main" xmlns="" id="{E454DC07-64A0-4D2F-8746-2FF3D8BAF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613969"/>
              </p:ext>
            </p:extLst>
          </p:nvPr>
        </p:nvGraphicFramePr>
        <p:xfrm>
          <a:off x="866949" y="2868854"/>
          <a:ext cx="5191691" cy="220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4091">
                  <a:extLst>
                    <a:ext uri="{9D8B030D-6E8A-4147-A177-3AD203B41FA5}">
                      <a16:colId xmlns:a16="http://schemas.microsoft.com/office/drawing/2014/main" xmlns="" val="1607353507"/>
                    </a:ext>
                  </a:extLst>
                </a:gridCol>
                <a:gridCol w="1227600">
                  <a:extLst>
                    <a:ext uri="{9D8B030D-6E8A-4147-A177-3AD203B41FA5}">
                      <a16:colId xmlns:a16="http://schemas.microsoft.com/office/drawing/2014/main" xmlns="" val="1201958127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cap="all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Compétences METIERS</a:t>
                      </a:r>
                      <a:endParaRPr lang="fr-FR" sz="1200" cap="all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05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24237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Data Architecture</a:t>
                      </a:r>
                      <a:endParaRPr lang="fr-FR" sz="1200" b="0" i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928383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Data Management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15259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Analyse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19226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Informatique</a:t>
                      </a:r>
                      <a:endParaRPr lang="fr-FR" sz="1200" b="0" i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088786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Connaissance métier autre que Data</a:t>
                      </a: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270984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Pilotage de projet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i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18396061"/>
                  </a:ext>
                </a:extLst>
              </a:tr>
            </a:tbl>
          </a:graphicData>
        </a:graphic>
      </p:graphicFrame>
      <p:grpSp>
        <p:nvGrpSpPr>
          <p:cNvPr id="213" name="Groupe 212">
            <a:extLst>
              <a:ext uri="{FF2B5EF4-FFF2-40B4-BE49-F238E27FC236}">
                <a16:creationId xmlns:a16="http://schemas.microsoft.com/office/drawing/2014/main" xmlns="" id="{8001D6E2-AB5D-443D-9F9F-40BE4B417588}"/>
              </a:ext>
            </a:extLst>
          </p:cNvPr>
          <p:cNvGrpSpPr/>
          <p:nvPr/>
        </p:nvGrpSpPr>
        <p:grpSpPr>
          <a:xfrm>
            <a:off x="4969448" y="4155065"/>
            <a:ext cx="734203" cy="144002"/>
            <a:chOff x="5151823" y="4106774"/>
            <a:chExt cx="734203" cy="144002"/>
          </a:xfrm>
          <a:solidFill>
            <a:srgbClr val="49648C"/>
          </a:solidFill>
        </p:grpSpPr>
        <p:sp>
          <p:nvSpPr>
            <p:cNvPr id="201" name="Ellipse 200">
              <a:extLst>
                <a:ext uri="{FF2B5EF4-FFF2-40B4-BE49-F238E27FC236}">
                  <a16:creationId xmlns:a16="http://schemas.microsoft.com/office/drawing/2014/main" xmlns="" id="{D23E7503-C0A8-4963-9251-83BD7489F692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02" name="Ellipse 201">
              <a:extLst>
                <a:ext uri="{FF2B5EF4-FFF2-40B4-BE49-F238E27FC236}">
                  <a16:creationId xmlns:a16="http://schemas.microsoft.com/office/drawing/2014/main" xmlns="" id="{8A2BAA04-F765-401C-A423-F71CDB4CD293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03" name="Ellipse 202">
              <a:extLst>
                <a:ext uri="{FF2B5EF4-FFF2-40B4-BE49-F238E27FC236}">
                  <a16:creationId xmlns:a16="http://schemas.microsoft.com/office/drawing/2014/main" xmlns="" id="{2C6911F4-1D99-4F48-83FE-97A3F89387A8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04" name="Ellipse 203">
              <a:extLst>
                <a:ext uri="{FF2B5EF4-FFF2-40B4-BE49-F238E27FC236}">
                  <a16:creationId xmlns:a16="http://schemas.microsoft.com/office/drawing/2014/main" xmlns="" id="{6AD57F97-0ECB-449A-9322-B9B4535A9245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220" name="Groupe 219">
            <a:extLst>
              <a:ext uri="{FF2B5EF4-FFF2-40B4-BE49-F238E27FC236}">
                <a16:creationId xmlns:a16="http://schemas.microsoft.com/office/drawing/2014/main" xmlns="" id="{98167321-89D5-4AAE-9078-8A9D9D09B25A}"/>
              </a:ext>
            </a:extLst>
          </p:cNvPr>
          <p:cNvGrpSpPr/>
          <p:nvPr/>
        </p:nvGrpSpPr>
        <p:grpSpPr>
          <a:xfrm>
            <a:off x="4969448" y="5721549"/>
            <a:ext cx="734203" cy="144000"/>
            <a:chOff x="5191833" y="3537026"/>
            <a:chExt cx="734203" cy="144000"/>
          </a:xfrm>
          <a:solidFill>
            <a:schemeClr val="bg1">
              <a:lumMod val="85000"/>
            </a:schemeClr>
          </a:solidFill>
        </p:grpSpPr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xmlns="" id="{4DBC991B-369F-49D3-B65F-762DD47ECF21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xmlns="" id="{68429E26-9611-4903-AAB5-84AC1150734D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23" name="Ellipse 222">
              <a:extLst>
                <a:ext uri="{FF2B5EF4-FFF2-40B4-BE49-F238E27FC236}">
                  <a16:creationId xmlns:a16="http://schemas.microsoft.com/office/drawing/2014/main" xmlns="" id="{4784DFFA-241F-4291-96D9-A391BD374A8F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xmlns="" id="{4FA7F5FD-FDBB-4BD9-846A-C2FD30B54C24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225" name="Groupe 224">
            <a:extLst>
              <a:ext uri="{FF2B5EF4-FFF2-40B4-BE49-F238E27FC236}">
                <a16:creationId xmlns:a16="http://schemas.microsoft.com/office/drawing/2014/main" xmlns="" id="{335C64F3-BC72-44DB-B745-49BD78E53101}"/>
              </a:ext>
            </a:extLst>
          </p:cNvPr>
          <p:cNvGrpSpPr/>
          <p:nvPr/>
        </p:nvGrpSpPr>
        <p:grpSpPr>
          <a:xfrm>
            <a:off x="4969448" y="6009227"/>
            <a:ext cx="734203" cy="144000"/>
            <a:chOff x="5191833" y="3537026"/>
            <a:chExt cx="734203" cy="144000"/>
          </a:xfrm>
          <a:solidFill>
            <a:schemeClr val="bg1">
              <a:lumMod val="85000"/>
            </a:schemeClr>
          </a:solidFill>
        </p:grpSpPr>
        <p:sp>
          <p:nvSpPr>
            <p:cNvPr id="226" name="Ellipse 225">
              <a:extLst>
                <a:ext uri="{FF2B5EF4-FFF2-40B4-BE49-F238E27FC236}">
                  <a16:creationId xmlns:a16="http://schemas.microsoft.com/office/drawing/2014/main" xmlns="" id="{CD4FA4EB-CD88-4BE4-9083-06839FA4456F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27" name="Ellipse 226">
              <a:extLst>
                <a:ext uri="{FF2B5EF4-FFF2-40B4-BE49-F238E27FC236}">
                  <a16:creationId xmlns:a16="http://schemas.microsoft.com/office/drawing/2014/main" xmlns="" id="{E850B129-AC01-46BA-BD73-D6A8D3BD465C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28" name="Ellipse 227">
              <a:extLst>
                <a:ext uri="{FF2B5EF4-FFF2-40B4-BE49-F238E27FC236}">
                  <a16:creationId xmlns:a16="http://schemas.microsoft.com/office/drawing/2014/main" xmlns="" id="{96D6776C-19F0-46DE-8EE7-410CF70EC11C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29" name="Ellipse 228">
              <a:extLst>
                <a:ext uri="{FF2B5EF4-FFF2-40B4-BE49-F238E27FC236}">
                  <a16:creationId xmlns:a16="http://schemas.microsoft.com/office/drawing/2014/main" xmlns="" id="{0556B2D3-D680-4A08-9F4C-B7798BF82A47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230" name="Groupe 229">
            <a:extLst>
              <a:ext uri="{FF2B5EF4-FFF2-40B4-BE49-F238E27FC236}">
                <a16:creationId xmlns:a16="http://schemas.microsoft.com/office/drawing/2014/main" xmlns="" id="{28C3097E-0E6D-4BDA-812B-FDF1B73E9B1A}"/>
              </a:ext>
            </a:extLst>
          </p:cNvPr>
          <p:cNvGrpSpPr/>
          <p:nvPr/>
        </p:nvGrpSpPr>
        <p:grpSpPr>
          <a:xfrm>
            <a:off x="4969448" y="6296905"/>
            <a:ext cx="734203" cy="144000"/>
            <a:chOff x="5191833" y="3537026"/>
            <a:chExt cx="734203" cy="144000"/>
          </a:xfrm>
          <a:solidFill>
            <a:schemeClr val="bg1">
              <a:lumMod val="85000"/>
            </a:schemeClr>
          </a:solidFill>
        </p:grpSpPr>
        <p:sp>
          <p:nvSpPr>
            <p:cNvPr id="231" name="Ellipse 230">
              <a:extLst>
                <a:ext uri="{FF2B5EF4-FFF2-40B4-BE49-F238E27FC236}">
                  <a16:creationId xmlns:a16="http://schemas.microsoft.com/office/drawing/2014/main" xmlns="" id="{0AD762B5-B859-427E-AA05-1863B630BFBE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32" name="Ellipse 231">
              <a:extLst>
                <a:ext uri="{FF2B5EF4-FFF2-40B4-BE49-F238E27FC236}">
                  <a16:creationId xmlns:a16="http://schemas.microsoft.com/office/drawing/2014/main" xmlns="" id="{AE754740-A9E1-457F-9D27-7F6E6492B33D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33" name="Ellipse 232">
              <a:extLst>
                <a:ext uri="{FF2B5EF4-FFF2-40B4-BE49-F238E27FC236}">
                  <a16:creationId xmlns:a16="http://schemas.microsoft.com/office/drawing/2014/main" xmlns="" id="{C6E11EE4-4636-4712-B74C-272E5DE9CB52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xmlns="" id="{1DFF5283-3818-4E48-B52B-DDA5073EA04E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267" name="Groupe 266">
            <a:extLst>
              <a:ext uri="{FF2B5EF4-FFF2-40B4-BE49-F238E27FC236}">
                <a16:creationId xmlns:a16="http://schemas.microsoft.com/office/drawing/2014/main" xmlns="" id="{133BB4FF-807C-4458-87E3-D01084EEBFD0}"/>
              </a:ext>
            </a:extLst>
          </p:cNvPr>
          <p:cNvGrpSpPr/>
          <p:nvPr/>
        </p:nvGrpSpPr>
        <p:grpSpPr>
          <a:xfrm>
            <a:off x="5219612" y="123104"/>
            <a:ext cx="1628214" cy="1622161"/>
            <a:chOff x="7049844" y="1946101"/>
            <a:chExt cx="1628214" cy="1622161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xmlns="" id="{10B71E30-F400-498D-92E0-B020FFEB9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6477">
              <a:off x="7049844" y="1946101"/>
              <a:ext cx="1628214" cy="1622161"/>
            </a:xfrm>
            <a:prstGeom prst="rect">
              <a:avLst/>
            </a:prstGeom>
          </p:spPr>
        </p:pic>
        <p:sp>
          <p:nvSpPr>
            <p:cNvPr id="266" name="ZoneTexte 265">
              <a:extLst>
                <a:ext uri="{FF2B5EF4-FFF2-40B4-BE49-F238E27FC236}">
                  <a16:creationId xmlns:a16="http://schemas.microsoft.com/office/drawing/2014/main" xmlns="" id="{3A3E5374-981F-400C-87A5-516FD4872A96}"/>
                </a:ext>
              </a:extLst>
            </p:cNvPr>
            <p:cNvSpPr txBox="1"/>
            <p:nvPr/>
          </p:nvSpPr>
          <p:spPr>
            <a:xfrm rot="20945197">
              <a:off x="7187740" y="2108657"/>
              <a:ext cx="1308361" cy="1044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fr-FR" sz="1600" dirty="0">
                  <a:solidFill>
                    <a:srgbClr val="49648C"/>
                  </a:solidFill>
                  <a:latin typeface="Freestyle Script" panose="030804020302050B0404" pitchFamily="66" charset="0"/>
                </a:rPr>
                <a:t>Mon portefeuille de compétences</a:t>
              </a:r>
            </a:p>
          </p:txBody>
        </p:sp>
      </p:grpSp>
      <p:sp>
        <p:nvSpPr>
          <p:cNvPr id="74" name="Titre 9">
            <a:extLst>
              <a:ext uri="{FF2B5EF4-FFF2-40B4-BE49-F238E27FC236}">
                <a16:creationId xmlns:a16="http://schemas.microsoft.com/office/drawing/2014/main" xmlns="" id="{F4983649-4113-416A-BD92-4DC3A90A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42" y="642290"/>
            <a:ext cx="5378146" cy="911361"/>
          </a:xfrm>
        </p:spPr>
        <p:txBody>
          <a:bodyPr/>
          <a:lstStyle/>
          <a:p>
            <a:r>
              <a:rPr lang="fr-FR" sz="2400" dirty="0">
                <a:latin typeface="Calibri" panose="020F0502020204030204" pitchFamily="34" charset="0"/>
              </a:rPr>
              <a:t>Métier « </a:t>
            </a:r>
            <a:r>
              <a:rPr lang="fr-FR" sz="2400" dirty="0" smtClean="0">
                <a:latin typeface="Calibri" panose="020F0502020204030204" pitchFamily="34" charset="0"/>
              </a:rPr>
              <a:t>Donnée »</a:t>
            </a:r>
            <a:endParaRPr lang="fr-FR" sz="2400" dirty="0">
              <a:latin typeface="Calibri" panose="020F0502020204030204" pitchFamily="34" charset="0"/>
            </a:endParaRPr>
          </a:p>
        </p:txBody>
      </p:sp>
      <p:grpSp>
        <p:nvGrpSpPr>
          <p:cNvPr id="84" name="Groupe 211">
            <a:extLst>
              <a:ext uri="{FF2B5EF4-FFF2-40B4-BE49-F238E27FC236}">
                <a16:creationId xmlns:a16="http://schemas.microsoft.com/office/drawing/2014/main" xmlns="" id="{0E56B2E4-4032-4001-9BC2-87563F6EB484}"/>
              </a:ext>
            </a:extLst>
          </p:cNvPr>
          <p:cNvGrpSpPr/>
          <p:nvPr/>
        </p:nvGrpSpPr>
        <p:grpSpPr>
          <a:xfrm>
            <a:off x="4969448" y="3245047"/>
            <a:ext cx="734203" cy="144002"/>
            <a:chOff x="5171828" y="3827308"/>
            <a:chExt cx="734203" cy="144002"/>
          </a:xfrm>
        </p:grpSpPr>
        <p:sp>
          <p:nvSpPr>
            <p:cNvPr id="85" name="Ellipse 189">
              <a:extLst>
                <a:ext uri="{FF2B5EF4-FFF2-40B4-BE49-F238E27FC236}">
                  <a16:creationId xmlns:a16="http://schemas.microsoft.com/office/drawing/2014/main" xmlns="" id="{82D2D1BE-EDF7-43CE-BFBE-B0F6AE23295C}"/>
                </a:ext>
              </a:extLst>
            </p:cNvPr>
            <p:cNvSpPr/>
            <p:nvPr/>
          </p:nvSpPr>
          <p:spPr>
            <a:xfrm>
              <a:off x="5171828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86" name="Ellipse 190">
              <a:extLst>
                <a:ext uri="{FF2B5EF4-FFF2-40B4-BE49-F238E27FC236}">
                  <a16:creationId xmlns:a16="http://schemas.microsoft.com/office/drawing/2014/main" xmlns="" id="{55D11219-42B2-4B36-9C61-3022A624B7CB}"/>
                </a:ext>
              </a:extLst>
            </p:cNvPr>
            <p:cNvSpPr/>
            <p:nvPr/>
          </p:nvSpPr>
          <p:spPr>
            <a:xfrm>
              <a:off x="5368563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87" name="Ellipse 191">
              <a:extLst>
                <a:ext uri="{FF2B5EF4-FFF2-40B4-BE49-F238E27FC236}">
                  <a16:creationId xmlns:a16="http://schemas.microsoft.com/office/drawing/2014/main" xmlns="" id="{75B062AE-49AE-4482-B5DB-916C784D72E0}"/>
                </a:ext>
              </a:extLst>
            </p:cNvPr>
            <p:cNvSpPr/>
            <p:nvPr/>
          </p:nvSpPr>
          <p:spPr>
            <a:xfrm>
              <a:off x="5565297" y="3827310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88" name="Ellipse 192">
              <a:extLst>
                <a:ext uri="{FF2B5EF4-FFF2-40B4-BE49-F238E27FC236}">
                  <a16:creationId xmlns:a16="http://schemas.microsoft.com/office/drawing/2014/main" xmlns="" id="{836636BE-FB33-4E9B-84B0-169AB9A31E8A}"/>
                </a:ext>
              </a:extLst>
            </p:cNvPr>
            <p:cNvSpPr/>
            <p:nvPr/>
          </p:nvSpPr>
          <p:spPr>
            <a:xfrm>
              <a:off x="5762031" y="3827308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10" name="Groupe 211">
            <a:extLst>
              <a:ext uri="{FF2B5EF4-FFF2-40B4-BE49-F238E27FC236}">
                <a16:creationId xmlns:a16="http://schemas.microsoft.com/office/drawing/2014/main" xmlns="" id="{128B2564-B0C2-4B7E-A6DD-6F0A1A1FD93C}"/>
              </a:ext>
            </a:extLst>
          </p:cNvPr>
          <p:cNvGrpSpPr/>
          <p:nvPr/>
        </p:nvGrpSpPr>
        <p:grpSpPr>
          <a:xfrm>
            <a:off x="4969448" y="3548387"/>
            <a:ext cx="734203" cy="144002"/>
            <a:chOff x="5171828" y="3827308"/>
            <a:chExt cx="734203" cy="144002"/>
          </a:xfrm>
        </p:grpSpPr>
        <p:sp>
          <p:nvSpPr>
            <p:cNvPr id="112" name="Ellipse 189">
              <a:extLst>
                <a:ext uri="{FF2B5EF4-FFF2-40B4-BE49-F238E27FC236}">
                  <a16:creationId xmlns:a16="http://schemas.microsoft.com/office/drawing/2014/main" xmlns="" id="{009EB6D2-AA1B-406C-B67A-1902A4F7C407}"/>
                </a:ext>
              </a:extLst>
            </p:cNvPr>
            <p:cNvSpPr/>
            <p:nvPr/>
          </p:nvSpPr>
          <p:spPr>
            <a:xfrm>
              <a:off x="5171828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3" name="Ellipse 190">
              <a:extLst>
                <a:ext uri="{FF2B5EF4-FFF2-40B4-BE49-F238E27FC236}">
                  <a16:creationId xmlns:a16="http://schemas.microsoft.com/office/drawing/2014/main" xmlns="" id="{E82E4017-1171-43B3-9733-DA08B8F1DF1F}"/>
                </a:ext>
              </a:extLst>
            </p:cNvPr>
            <p:cNvSpPr/>
            <p:nvPr/>
          </p:nvSpPr>
          <p:spPr>
            <a:xfrm>
              <a:off x="5368563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4" name="Ellipse 191">
              <a:extLst>
                <a:ext uri="{FF2B5EF4-FFF2-40B4-BE49-F238E27FC236}">
                  <a16:creationId xmlns:a16="http://schemas.microsoft.com/office/drawing/2014/main" xmlns="" id="{081C222B-C622-4595-B0BE-DE93F1EFB197}"/>
                </a:ext>
              </a:extLst>
            </p:cNvPr>
            <p:cNvSpPr/>
            <p:nvPr/>
          </p:nvSpPr>
          <p:spPr>
            <a:xfrm>
              <a:off x="5565297" y="3827310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5" name="Ellipse 192">
              <a:extLst>
                <a:ext uri="{FF2B5EF4-FFF2-40B4-BE49-F238E27FC236}">
                  <a16:creationId xmlns:a16="http://schemas.microsoft.com/office/drawing/2014/main" xmlns="" id="{19C78105-B8CA-41BE-B577-1F6B41BBF67B}"/>
                </a:ext>
              </a:extLst>
            </p:cNvPr>
            <p:cNvSpPr/>
            <p:nvPr/>
          </p:nvSpPr>
          <p:spPr>
            <a:xfrm>
              <a:off x="5762031" y="3827308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16" name="Groupe 224">
            <a:extLst>
              <a:ext uri="{FF2B5EF4-FFF2-40B4-BE49-F238E27FC236}">
                <a16:creationId xmlns:a16="http://schemas.microsoft.com/office/drawing/2014/main" xmlns="" id="{E7ED7EF5-8FB3-4DFB-93DC-BD97C4265F41}"/>
              </a:ext>
            </a:extLst>
          </p:cNvPr>
          <p:cNvGrpSpPr/>
          <p:nvPr/>
        </p:nvGrpSpPr>
        <p:grpSpPr>
          <a:xfrm>
            <a:off x="4969448" y="3851727"/>
            <a:ext cx="734203" cy="144000"/>
            <a:chOff x="5191833" y="3537026"/>
            <a:chExt cx="734203" cy="144000"/>
          </a:xfrm>
        </p:grpSpPr>
        <p:sp>
          <p:nvSpPr>
            <p:cNvPr id="117" name="Ellipse 225">
              <a:extLst>
                <a:ext uri="{FF2B5EF4-FFF2-40B4-BE49-F238E27FC236}">
                  <a16:creationId xmlns:a16="http://schemas.microsoft.com/office/drawing/2014/main" xmlns="" id="{0048F9EE-47BF-4CC4-9860-7B4DD653BDB2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8" name="Ellipse 226">
              <a:extLst>
                <a:ext uri="{FF2B5EF4-FFF2-40B4-BE49-F238E27FC236}">
                  <a16:creationId xmlns:a16="http://schemas.microsoft.com/office/drawing/2014/main" xmlns="" id="{B2C4E2D8-8C6C-4FB5-B38C-6711DEB1776A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9" name="Ellipse 227">
              <a:extLst>
                <a:ext uri="{FF2B5EF4-FFF2-40B4-BE49-F238E27FC236}">
                  <a16:creationId xmlns:a16="http://schemas.microsoft.com/office/drawing/2014/main" xmlns="" id="{8E35E2AD-A2A3-486E-9770-6839D27B4BA2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0" name="Ellipse 228">
              <a:extLst>
                <a:ext uri="{FF2B5EF4-FFF2-40B4-BE49-F238E27FC236}">
                  <a16:creationId xmlns:a16="http://schemas.microsoft.com/office/drawing/2014/main" xmlns="" id="{B529E6FF-A6FF-49CC-A36F-396AF907DA09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26" name="Groupe 212">
            <a:extLst>
              <a:ext uri="{FF2B5EF4-FFF2-40B4-BE49-F238E27FC236}">
                <a16:creationId xmlns:a16="http://schemas.microsoft.com/office/drawing/2014/main" xmlns="" id="{8D546E96-198F-4829-8E9C-799284FB2806}"/>
              </a:ext>
            </a:extLst>
          </p:cNvPr>
          <p:cNvGrpSpPr/>
          <p:nvPr/>
        </p:nvGrpSpPr>
        <p:grpSpPr>
          <a:xfrm>
            <a:off x="4969448" y="5437552"/>
            <a:ext cx="734203" cy="144002"/>
            <a:chOff x="5151823" y="4106774"/>
            <a:chExt cx="734203" cy="144002"/>
          </a:xfrm>
          <a:solidFill>
            <a:schemeClr val="bg1">
              <a:lumMod val="85000"/>
            </a:schemeClr>
          </a:solidFill>
        </p:grpSpPr>
        <p:sp>
          <p:nvSpPr>
            <p:cNvPr id="127" name="Ellipse 200">
              <a:extLst>
                <a:ext uri="{FF2B5EF4-FFF2-40B4-BE49-F238E27FC236}">
                  <a16:creationId xmlns:a16="http://schemas.microsoft.com/office/drawing/2014/main" xmlns="" id="{83518DC1-5CA8-493B-B000-A63722E35CAA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8" name="Ellipse 201">
              <a:extLst>
                <a:ext uri="{FF2B5EF4-FFF2-40B4-BE49-F238E27FC236}">
                  <a16:creationId xmlns:a16="http://schemas.microsoft.com/office/drawing/2014/main" xmlns="" id="{D74699A4-1841-4683-88A7-ACB6E7AF94BA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9" name="Ellipse 202">
              <a:extLst>
                <a:ext uri="{FF2B5EF4-FFF2-40B4-BE49-F238E27FC236}">
                  <a16:creationId xmlns:a16="http://schemas.microsoft.com/office/drawing/2014/main" xmlns="" id="{70EFB4C2-EF60-4A92-AF47-D62AF8A57174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0" name="Ellipse 203">
              <a:extLst>
                <a:ext uri="{FF2B5EF4-FFF2-40B4-BE49-F238E27FC236}">
                  <a16:creationId xmlns:a16="http://schemas.microsoft.com/office/drawing/2014/main" xmlns="" id="{6E396BC8-EC4E-41B6-A5D4-35C3A39BCD61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63" name="Groupe 229">
            <a:extLst>
              <a:ext uri="{FF2B5EF4-FFF2-40B4-BE49-F238E27FC236}">
                <a16:creationId xmlns:a16="http://schemas.microsoft.com/office/drawing/2014/main" xmlns="" id="{12A566E6-B073-4C03-87E8-1CB11C1B4E86}"/>
              </a:ext>
            </a:extLst>
          </p:cNvPr>
          <p:cNvGrpSpPr/>
          <p:nvPr/>
        </p:nvGrpSpPr>
        <p:grpSpPr>
          <a:xfrm>
            <a:off x="4969448" y="4718074"/>
            <a:ext cx="734203" cy="144000"/>
            <a:chOff x="5191833" y="3537026"/>
            <a:chExt cx="734203" cy="144000"/>
          </a:xfrm>
          <a:solidFill>
            <a:srgbClr val="D9D9D9"/>
          </a:solidFill>
        </p:grpSpPr>
        <p:sp>
          <p:nvSpPr>
            <p:cNvPr id="69" name="Ellipse 230">
              <a:extLst>
                <a:ext uri="{FF2B5EF4-FFF2-40B4-BE49-F238E27FC236}">
                  <a16:creationId xmlns:a16="http://schemas.microsoft.com/office/drawing/2014/main" xmlns="" id="{CB10BC00-C46C-4450-AD2A-DF7247717AED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70" name="Ellipse 231">
              <a:extLst>
                <a:ext uri="{FF2B5EF4-FFF2-40B4-BE49-F238E27FC236}">
                  <a16:creationId xmlns:a16="http://schemas.microsoft.com/office/drawing/2014/main" xmlns="" id="{93D18EFD-DCB6-4A40-9188-463C94C88E99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75" name="Ellipse 232">
              <a:extLst>
                <a:ext uri="{FF2B5EF4-FFF2-40B4-BE49-F238E27FC236}">
                  <a16:creationId xmlns:a16="http://schemas.microsoft.com/office/drawing/2014/main" xmlns="" id="{F1FCED3C-5C05-46FE-AEDE-102CFD4F5261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76" name="Ellipse 233">
              <a:extLst>
                <a:ext uri="{FF2B5EF4-FFF2-40B4-BE49-F238E27FC236}">
                  <a16:creationId xmlns:a16="http://schemas.microsoft.com/office/drawing/2014/main" xmlns="" id="{6832B388-7309-4BC0-AD91-E9C5BDB76038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xmlns="" id="{60471678-30A9-4B7F-A792-BB63A04292C8}"/>
              </a:ext>
            </a:extLst>
          </p:cNvPr>
          <p:cNvGrpSpPr/>
          <p:nvPr/>
        </p:nvGrpSpPr>
        <p:grpSpPr>
          <a:xfrm>
            <a:off x="4969448" y="4425926"/>
            <a:ext cx="734203" cy="144002"/>
            <a:chOff x="5151823" y="4106774"/>
            <a:chExt cx="734203" cy="144002"/>
          </a:xfrm>
          <a:solidFill>
            <a:srgbClr val="49648C"/>
          </a:solidFill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xmlns="" id="{D32B1D5D-20C7-4FCB-9B22-44F150DD9AFD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xmlns="" id="{6E75252A-1FED-40A3-B191-5808362E809C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xmlns="" id="{26749C2E-1664-4319-9A2F-CC6C6D985C80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xmlns="" id="{512A0DDC-EA4E-49DC-9800-040A03124E89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92" name="Groupe 211">
            <a:extLst>
              <a:ext uri="{FF2B5EF4-FFF2-40B4-BE49-F238E27FC236}">
                <a16:creationId xmlns:a16="http://schemas.microsoft.com/office/drawing/2014/main" xmlns="" id="{5F410C01-DB05-49BF-AC7D-CA11894A298C}"/>
              </a:ext>
            </a:extLst>
          </p:cNvPr>
          <p:cNvGrpSpPr/>
          <p:nvPr/>
        </p:nvGrpSpPr>
        <p:grpSpPr>
          <a:xfrm>
            <a:off x="4969448" y="6561565"/>
            <a:ext cx="734203" cy="144002"/>
            <a:chOff x="5171828" y="3827308"/>
            <a:chExt cx="734203" cy="144002"/>
          </a:xfrm>
          <a:solidFill>
            <a:schemeClr val="bg1">
              <a:lumMod val="85000"/>
            </a:schemeClr>
          </a:solidFill>
        </p:grpSpPr>
        <p:sp>
          <p:nvSpPr>
            <p:cNvPr id="93" name="Ellipse 189">
              <a:extLst>
                <a:ext uri="{FF2B5EF4-FFF2-40B4-BE49-F238E27FC236}">
                  <a16:creationId xmlns:a16="http://schemas.microsoft.com/office/drawing/2014/main" xmlns="" id="{A9FEBCEB-451B-41B7-BB11-B4CD3FBBD03A}"/>
                </a:ext>
              </a:extLst>
            </p:cNvPr>
            <p:cNvSpPr/>
            <p:nvPr/>
          </p:nvSpPr>
          <p:spPr>
            <a:xfrm>
              <a:off x="5171828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4" name="Ellipse 190">
              <a:extLst>
                <a:ext uri="{FF2B5EF4-FFF2-40B4-BE49-F238E27FC236}">
                  <a16:creationId xmlns:a16="http://schemas.microsoft.com/office/drawing/2014/main" xmlns="" id="{EE2CF6FF-2C47-4090-88B8-36394781B4C5}"/>
                </a:ext>
              </a:extLst>
            </p:cNvPr>
            <p:cNvSpPr/>
            <p:nvPr/>
          </p:nvSpPr>
          <p:spPr>
            <a:xfrm>
              <a:off x="5368563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5" name="Ellipse 191">
              <a:extLst>
                <a:ext uri="{FF2B5EF4-FFF2-40B4-BE49-F238E27FC236}">
                  <a16:creationId xmlns:a16="http://schemas.microsoft.com/office/drawing/2014/main" xmlns="" id="{B9039A78-4CF4-49A7-8C2E-08CCEB81CA3D}"/>
                </a:ext>
              </a:extLst>
            </p:cNvPr>
            <p:cNvSpPr/>
            <p:nvPr/>
          </p:nvSpPr>
          <p:spPr>
            <a:xfrm>
              <a:off x="5565297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6" name="Ellipse 192">
              <a:extLst>
                <a:ext uri="{FF2B5EF4-FFF2-40B4-BE49-F238E27FC236}">
                  <a16:creationId xmlns:a16="http://schemas.microsoft.com/office/drawing/2014/main" xmlns="" id="{142AB7AC-66F4-4177-B75C-34DACCA210C1}"/>
                </a:ext>
              </a:extLst>
            </p:cNvPr>
            <p:cNvSpPr/>
            <p:nvPr/>
          </p:nvSpPr>
          <p:spPr>
            <a:xfrm>
              <a:off x="5762031" y="3827308"/>
              <a:ext cx="144000" cy="144000"/>
            </a:xfrm>
            <a:prstGeom prst="ellipse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aphicFrame>
        <p:nvGraphicFramePr>
          <p:cNvPr id="97" name="Tableau 96">
            <a:extLst>
              <a:ext uri="{FF2B5EF4-FFF2-40B4-BE49-F238E27FC236}">
                <a16:creationId xmlns:a16="http://schemas.microsoft.com/office/drawing/2014/main" xmlns="" id="{65944446-CA1F-4C0F-8863-624171CBA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85002"/>
              </p:ext>
            </p:extLst>
          </p:nvPr>
        </p:nvGraphicFramePr>
        <p:xfrm>
          <a:off x="871281" y="7218767"/>
          <a:ext cx="5187359" cy="126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xmlns="" val="1607353507"/>
                    </a:ext>
                  </a:extLst>
                </a:gridCol>
                <a:gridCol w="1227359">
                  <a:extLst>
                    <a:ext uri="{9D8B030D-6E8A-4147-A177-3AD203B41FA5}">
                      <a16:colId xmlns:a16="http://schemas.microsoft.com/office/drawing/2014/main" xmlns="" val="1201958127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cap="all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Compétences MANAGERIALES</a:t>
                      </a:r>
                      <a:endParaRPr lang="fr-FR" sz="1200" cap="all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05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24237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Leadership</a:t>
                      </a:r>
                    </a:p>
                    <a:p>
                      <a:pPr marL="562585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Construction de la prospective</a:t>
                      </a:r>
                    </a:p>
                    <a:p>
                      <a:pPr marL="562585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Pilotage de l’efficacité collective</a:t>
                      </a:r>
                    </a:p>
                    <a:p>
                      <a:pPr marL="562585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b="0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Intégration des valeurs du Groupe dans le fonctionnement</a:t>
                      </a:r>
                    </a:p>
                    <a:p>
                      <a:pPr marL="391135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92838353"/>
                  </a:ext>
                </a:extLst>
              </a:tr>
            </a:tbl>
          </a:graphicData>
        </a:graphic>
      </p:graphicFrame>
      <p:grpSp>
        <p:nvGrpSpPr>
          <p:cNvPr id="98" name="Groupe 97">
            <a:extLst>
              <a:ext uri="{FF2B5EF4-FFF2-40B4-BE49-F238E27FC236}">
                <a16:creationId xmlns:a16="http://schemas.microsoft.com/office/drawing/2014/main" xmlns="" id="{8DA23BB0-F94E-4753-94D5-4D50DE14E99E}"/>
              </a:ext>
            </a:extLst>
          </p:cNvPr>
          <p:cNvGrpSpPr/>
          <p:nvPr/>
        </p:nvGrpSpPr>
        <p:grpSpPr>
          <a:xfrm>
            <a:off x="4969448" y="7591537"/>
            <a:ext cx="734203" cy="144000"/>
            <a:chOff x="5191833" y="3537026"/>
            <a:chExt cx="734203" cy="144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xmlns="" id="{E3CDE043-BDFB-43D9-8732-2B8B50747DCF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xmlns="" id="{A624C7C6-C94E-438F-9A85-97F5750C750D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xmlns="" id="{89932797-38AA-404C-9B7A-D673251E088F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xmlns="" id="{8296B0FE-6A43-4B55-97AD-C480B8756464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49948705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A30040DD6D6E4D810AC048F928BDD9" ma:contentTypeVersion="2" ma:contentTypeDescription="Crée un document." ma:contentTypeScope="" ma:versionID="4b2253b6cf96669b3edaa88886dea887">
  <xsd:schema xmlns:xsd="http://www.w3.org/2001/XMLSchema" xmlns:xs="http://www.w3.org/2001/XMLSchema" xmlns:p="http://schemas.microsoft.com/office/2006/metadata/properties" xmlns:ns2="56e4d821-2a0a-402a-a469-85b3e7d4a95e" targetNamespace="http://schemas.microsoft.com/office/2006/metadata/properties" ma:root="true" ma:fieldsID="26d15b5ae4ad81d941cefd7656677ad7" ns2:_="">
    <xsd:import namespace="56e4d821-2a0a-402a-a469-85b3e7d4a9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e4d821-2a0a-402a-a469-85b3e7d4a9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043173-0E86-4FAB-8F9B-5DF8531D3B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CE182E-019E-40AF-906D-A2B2E03D7BC8}"/>
</file>

<file path=customXml/itemProps3.xml><?xml version="1.0" encoding="utf-8"?>
<ds:datastoreItem xmlns:ds="http://schemas.openxmlformats.org/officeDocument/2006/customXml" ds:itemID="{0308D718-F4C2-478B-9DFD-CD613FD1758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203</Words>
  <Application>Microsoft Office PowerPoint</Application>
  <PresentationFormat>Affichage à l'écran (4:3)</PresentationFormat>
  <Paragraphs>51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Freestyle Script</vt:lpstr>
      <vt:lpstr>Wingdings</vt:lpstr>
      <vt:lpstr>1_Thème Office</vt:lpstr>
      <vt:lpstr>Métier « Donnée »</vt:lpstr>
      <vt:lpstr>Métier « Donnée »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Référentiel  des Métiers et Compétences</dc:title>
  <dc:creator>Boissinot, Raphael</dc:creator>
  <cp:lastModifiedBy>ROSSIN Evelyne</cp:lastModifiedBy>
  <cp:revision>174</cp:revision>
  <cp:lastPrinted>2020-01-23T09:03:39Z</cp:lastPrinted>
  <dcterms:created xsi:type="dcterms:W3CDTF">2019-07-25T15:47:47Z</dcterms:created>
  <dcterms:modified xsi:type="dcterms:W3CDTF">2020-01-23T12:26:54Z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0x01010058A30040DD6D6E4D810AC048F928BDD9</vt:lpwstr>
  </property>
</Properties>
</file>